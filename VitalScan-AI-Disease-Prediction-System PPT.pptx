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eebo Light"/>
      <p:regular r:id="rId201314"/>
    </p:embeddedFont>
    <p:embeddedFont>
      <p:font typeface="Heebo Bold"/>
      <p:regular r:id="rId201315"/>
    </p:embeddedFont>
    <p:embeddedFont>
      <p:font typeface="Montserrat"/>
      <p:regular r:id="rId201316"/>
    </p:embeddedFont>
    <p:embeddedFont>
      <p:font typeface="Montserra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VitalScan AI — Disease Prediction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Blood Biomarker Screening Using Supervised Machine Learning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5737"/>
            <a:ext cx="6296860" cy="978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&amp; Clinical Objective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61475" y="1685826"/>
            <a:ext cx="6296860" cy="782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Need for Automated Preliminary Screening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08387"/>
            <a:ext cx="2957538" cy="16407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187" y="2983905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13187" y="3358059"/>
            <a:ext cx="2530312" cy="915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Routine lab panels contain 20+ interrelated biomarkers; manual assessment can delay critical diagnostic triage.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578747"/>
            <a:ext cx="2957538" cy="14118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187" y="4754265"/>
            <a:ext cx="253031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3187" y="5128419"/>
            <a:ext cx="2530312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rapid, data-driven binary classification system to flag disease presence from routine blood tests.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4007147" y="2808387"/>
            <a:ext cx="2957538" cy="1157585"/>
          </a:xfrm>
          <a:prstGeom prst="roundRect">
            <a:avLst>
              <a:gd name="adj" fmla="val 567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169961" y="2971205"/>
            <a:ext cx="263191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0 — Healthy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169961" y="3345359"/>
            <a:ext cx="263191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 clinical markers within acceptable tolerances.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007147" y="4095552"/>
            <a:ext cx="2957538" cy="1157585"/>
          </a:xfrm>
          <a:prstGeom prst="roundRect">
            <a:avLst>
              <a:gd name="adj" fmla="val 567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169961" y="4258370"/>
            <a:ext cx="2631910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 1 — Disease Present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169961" y="4632523"/>
            <a:ext cx="2631910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Actionable markers indicate clinical risk requiring physician review.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007147" y="5398889"/>
            <a:ext cx="2957538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Clinical Value:</a:t>
            </a:r>
            <a:pPr algn="l"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Speeds up preliminary pathology triage and reduces human oversight.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828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 Architecture &amp; 24 Biomarkers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07811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Indicators Structured Across 4 Panels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1475" y="1649214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Dataset Profile:</a:t>
            </a:r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2,837 total records sanitized to 551 unique patient samples; 24 continuous blood test features. All biomarkers standardized via StandardScaler to mean=0, variance=1.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2234803"/>
            <a:ext cx="5371966" cy="2241352"/>
          </a:xfrm>
          <a:prstGeom prst="roundRect">
            <a:avLst>
              <a:gd name="adj" fmla="val 2878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1312" y="2394645"/>
            <a:ext cx="460661" cy="460673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8011" y="2521248"/>
            <a:ext cx="207263" cy="2072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1312" y="2980035"/>
            <a:ext cx="50522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Metabolic Panel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1312" y="3294757"/>
            <a:ext cx="5052291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Glucose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Insulin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HbA1c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Body Mass Index (BMI)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58155" y="2234803"/>
            <a:ext cx="5372065" cy="2241352"/>
          </a:xfrm>
          <a:prstGeom prst="roundRect">
            <a:avLst>
              <a:gd name="adj" fmla="val 2878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17993" y="2394645"/>
            <a:ext cx="460661" cy="460673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4692" y="2521248"/>
            <a:ext cx="207263" cy="2072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17993" y="2980035"/>
            <a:ext cx="505239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Blood Count (CBC)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17993" y="3294757"/>
            <a:ext cx="505239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Hemoglobin, Platelets, WBC, RBC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Hematocrit, MCV, MCH, MCHC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61475" y="4600873"/>
            <a:ext cx="5371966" cy="1708745"/>
          </a:xfrm>
          <a:prstGeom prst="roundRect">
            <a:avLst>
              <a:gd name="adj" fmla="val 377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312" y="4760714"/>
            <a:ext cx="460661" cy="460673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011" y="4887317"/>
            <a:ext cx="207263" cy="2072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1312" y="5346105"/>
            <a:ext cx="505229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Cardiovascular &amp; Vitals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1312" y="5660827"/>
            <a:ext cx="5052291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Systolic BP, Diastolic BP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Heart Rate, Cardiac Troponin, CRP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58155" y="4600873"/>
            <a:ext cx="5372065" cy="1708745"/>
          </a:xfrm>
          <a:prstGeom prst="roundRect">
            <a:avLst>
              <a:gd name="adj" fmla="val 377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317993" y="4760714"/>
            <a:ext cx="460661" cy="460673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4692" y="4887317"/>
            <a:ext cx="207263" cy="2072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17993" y="5346105"/>
            <a:ext cx="5052390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Lipid, Hepatic &amp; Renal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317993" y="5660827"/>
            <a:ext cx="5052390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Cholesterol, Triglycerides, LDL, HDL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ALT, AST, Serum Creatinine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Machine Learning Pipeline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Systematic 5-Stage Engineering Workflow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015" y="1141016"/>
            <a:ext cx="8397566" cy="5787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7337" y="4742037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&amp; Dedup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062857" y="2311799"/>
            <a:ext cx="2369380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Encode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53426" y="5453786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Split 80/20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90461" y="2951541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131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Model — Logistic Regression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173857"/>
            <a:ext cx="10868745" cy="45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Mathematical Formulation &amp; Decision Boundary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39578"/>
            <a:ext cx="3518308" cy="35183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25661" y="2053530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Linear Predictor Function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625661" y="2506663"/>
            <a:ext cx="7520395" cy="29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 = w0 + w1·x1 + w2·x2 + ... + w24·x24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25661" y="2972495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Sigmoid Probability Mapping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625661" y="3425627"/>
            <a:ext cx="7520395" cy="29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P(Disease = 1) = 1 / (1 + e^-z)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625661" y="3891459"/>
            <a:ext cx="691081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Rule (0.50 Threshold)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625661" y="4344591"/>
            <a:ext cx="6910810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P(Disease) ≥ 0.50 →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Class 1 (Disease Detected)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 P(Disease) &lt; 0.50 → </a:t>
            </a:r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Class 0 (Healthy Status)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25661" y="5160764"/>
            <a:ext cx="6910810" cy="961827"/>
          </a:xfrm>
          <a:prstGeom prst="roundRect">
            <a:avLst>
              <a:gd name="adj" fmla="val 7867"/>
            </a:avLst>
          </a:prstGeom>
          <a:solidFill>
            <a:srgbClr val="31136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38" y="5416550"/>
            <a:ext cx="225122" cy="1800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0938" y="5360194"/>
            <a:ext cx="614545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Why Logistic Regression?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Provides complete clinical interpretability through learned weights, fast inference, and zero overfitting risk.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55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Comparison &amp; Benchmarking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958751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Across Supervised Classifiers</a:t>
            </a:r>
            <a:endParaRPr lang="en-US" sz="1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82427"/>
            <a:ext cx="5283068" cy="3802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3502" y="1464072"/>
            <a:ext cx="528306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Conclusion: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Logistic Regression delivers strong test performance with transparent diagnostic weight explainability.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68441"/>
            <a:ext cx="3568611" cy="8509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8994" y="5605165"/>
            <a:ext cx="3244372" cy="200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Logistic Regression </a:t>
            </a:r>
            <a:pPr algn="l" indent="0" marL="0">
              <a:lnSpc>
                <a:spcPct val="104000"/>
              </a:lnSpc>
              <a:buNone/>
            </a:pPr>
            <a:r>
              <a:rPr lang="en-US" sz="1200" i="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(Selected)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48994" y="5854105"/>
            <a:ext cx="324437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~89.8% train / ~88.5%–91.5% test. High interpretability, stable generalization, fast inference.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1443" y="5468441"/>
            <a:ext cx="3568710" cy="8509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98962" y="5605165"/>
            <a:ext cx="324447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Random Forest Classifier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498962" y="5847755"/>
            <a:ext cx="3244471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100% train &amp; test accuracy. Ensemble black-box; high complexity — not selected for clinical use.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1510" y="5468441"/>
            <a:ext cx="3568611" cy="8509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49029" y="5605165"/>
            <a:ext cx="324437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K-Nearest Neighbors (KNN)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149029" y="5847755"/>
            <a:ext cx="324437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~80.2% train / ~76.9% test. Distance metric degrades in high-dimensional feature space.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9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Metrics &amp; Diagnostic Quality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2723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Rigorous Validation on Unseen Test Data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475" y="2077641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~90%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2937570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Accuracy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346252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~89%–91.5% correct classifications on unseen patient test samples.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3915" y="2077641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0.96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213915" y="2937570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213915" y="3346252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96% of cases flagged as "Disease" are true clinical positives — extremely low false alarm rate.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1475" y="4423569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0.85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661475" y="528349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661475" y="569218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Effectively identifies 85% of all positive pathology cases, preventing missed medical diagnoses.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13915" y="4423569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0.90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6213915" y="528349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F1-Score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213915" y="569218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Harmonic balance between diagnostic sensitivity and precision. Confusion matrix confirms reliable class boundary separation.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2387"/>
            <a:ext cx="6296860" cy="9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Risk Drivers &amp; Learned Biomarkers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1491456"/>
            <a:ext cx="6296860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Aligning Machine Learning Coefficients with Clinical Science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61475" y="2518172"/>
            <a:ext cx="2968352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Disease Drivers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Positive Coefficients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3113881"/>
            <a:ext cx="221451" cy="221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1285" y="3109317"/>
            <a:ext cx="24885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Glucose &amp; HbA1c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41285" y="3455293"/>
            <a:ext cx="248854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Dominant indicators for diabetic risk and metabolic syndrome.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838" y="4111228"/>
            <a:ext cx="221451" cy="221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1285" y="4106664"/>
            <a:ext cx="24885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Cardiac Troponin &amp; CRP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141285" y="4452640"/>
            <a:ext cx="248854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Critical signals for myocardial distress and systemic inflammation.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838" y="5108575"/>
            <a:ext cx="221451" cy="221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1285" y="5104011"/>
            <a:ext cx="248854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Cholesterol &amp; Triglycerides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141285" y="5449987"/>
            <a:ext cx="248854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Primary drivers for cardiovascular pathology.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3996332" y="2518172"/>
            <a:ext cx="2968352" cy="461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81C9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Protective Factors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Negative Coefficients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3996332" y="3109317"/>
            <a:ext cx="2968352" cy="864295"/>
          </a:xfrm>
          <a:prstGeom prst="roundRect">
            <a:avLst>
              <a:gd name="adj" fmla="val 7176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150316" y="3263305"/>
            <a:ext cx="26603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HDL "Good" Cholesterol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150316" y="3609280"/>
            <a:ext cx="26603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Correlates strongly with healthy status.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3996332" y="4088904"/>
            <a:ext cx="2968352" cy="864295"/>
          </a:xfrm>
          <a:prstGeom prst="roundRect">
            <a:avLst>
              <a:gd name="adj" fmla="val 7176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150316" y="4242891"/>
            <a:ext cx="266038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 Hemoglobin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150316" y="4588867"/>
            <a:ext cx="266038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Correlates strongly with healthy status.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3996332" y="5082977"/>
            <a:ext cx="2968352" cy="1122759"/>
          </a:xfrm>
          <a:prstGeom prst="roundRect">
            <a:avLst>
              <a:gd name="adj" fmla="val 5524"/>
            </a:avLst>
          </a:prstGeom>
          <a:solidFill>
            <a:srgbClr val="183A1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3966" y="5252045"/>
            <a:ext cx="184542" cy="14763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476142" y="5223669"/>
            <a:ext cx="2340909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Clinical Alignment:</a:t>
            </a:r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Learned mathematical weights directly reflect real medical diagnostic criteria.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5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VitalScan AI Web Application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17762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Clinical Dashboard Built with Flask &amp; Tailwind CSS</a:t>
            </a:r>
            <a:endParaRPr lang="en-US" sz="2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46189"/>
            <a:ext cx="1473163" cy="9104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992860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Compact 2×2 Input Grid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696817"/>
            <a:ext cx="25399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24 biomarkers logically grouped into 4 clinical panels above the fold for rapid data entry.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846189"/>
            <a:ext cx="1473163" cy="9104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992860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Patient Presets Dropdown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696817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Instant test profiles: Healthy Adult, Diabetes Risk, Anemia, Cardiac Alert, Thrombocytopenia.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846189"/>
            <a:ext cx="1473163" cy="9104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992860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Inference Engine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696817"/>
            <a:ext cx="2540036" cy="945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Instant computation using serialized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model.joblib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scaler.joblib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846189"/>
            <a:ext cx="1473163" cy="9104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992860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Abnormal Factor Breakdown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696817"/>
            <a:ext cx="254003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Filters out optimal values and highlights only non-normal markers with "Should Be" target ranges.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0649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Deployment &amp; 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579761"/>
            <a:ext cx="6296860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Architecture on Render &amp; Project Summary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233360" y="2632770"/>
            <a:ext cx="296468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2988072"/>
            <a:ext cx="2964681" cy="1421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Deployed on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Render.com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powered by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Gunicorn WSGI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Production configuration: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render.yaml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Procfile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Dedicated 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monitoring endpoint for continuous uptime verification.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4529038"/>
            <a:ext cx="296468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33360" y="4884341"/>
            <a:ext cx="2964681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Successfully implemented an end-to-end ML classification pipeline (~90% test accuracy).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Deployed an accessible diagnostic tool combining ML rigor with practical healthcare utility.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571889" y="2647752"/>
            <a:ext cx="2964681" cy="1102221"/>
          </a:xfrm>
          <a:prstGeom prst="roundRect">
            <a:avLst>
              <a:gd name="adj" fmla="val 574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28849" y="2804716"/>
            <a:ext cx="265076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🔬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Multi-Class Diagnosis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728849" y="3160018"/>
            <a:ext cx="2650761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Expanding beyond binary classification to identify specific condition categories.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71889" y="3869928"/>
            <a:ext cx="2964681" cy="1318716"/>
          </a:xfrm>
          <a:prstGeom prst="roundRect">
            <a:avLst>
              <a:gd name="adj" fmla="val 479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28849" y="4026892"/>
            <a:ext cx="2650761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🏥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EHR Integration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728849" y="4382195"/>
            <a:ext cx="2650761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Connecting VitalScan AI directly with Electronic Health Record systems for seamless clinical workflow.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71889" y="5323582"/>
            <a:ext cx="1026492" cy="228898"/>
          </a:xfrm>
          <a:prstGeom prst="roundRect">
            <a:avLst>
              <a:gd name="adj" fmla="val 22110"/>
            </a:avLst>
          </a:prstGeom>
          <a:solidFill>
            <a:srgbClr val="1E0C41"/>
          </a:solidFill>
          <a:ln/>
        </p:spPr>
      </p:sp>
      <p:sp>
        <p:nvSpPr>
          <p:cNvPr id="16" name="Text 13"/>
          <p:cNvSpPr/>
          <p:nvPr/>
        </p:nvSpPr>
        <p:spPr>
          <a:xfrm>
            <a:off x="8662175" y="5368727"/>
            <a:ext cx="1455503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FUTURE SCOPE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2026-09-10T17:28:33Z</dcterms:created>
  <dcterms:modified xsi:type="dcterms:W3CDTF">2026-09-10T17:28:33Z</dcterms:modified>
</cp:coreProperties>
</file>